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43e9b6c6e74d3f" /><Relationship Type="http://schemas.openxmlformats.org/officeDocument/2006/relationships/extended-properties" Target="/docProps/app.xml" Id="R3e49ea3fc84b4ebf" /><Relationship Type="http://schemas.openxmlformats.org/officeDocument/2006/relationships/officeDocument" Target="/ppt/presentation.xml" Id="R6cadfd5e92fc49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b1d9dbe9b24ba2"/>
  </p:sldMasterIdLst>
  <p:notesMasterIdLst>
    <p:notesMasterId xmlns:r="http://schemas.openxmlformats.org/officeDocument/2006/relationships" r:id="R8fb91e6fe2bb4ef8"/>
  </p:notesMasterIdLst>
  <p:sldIdLst>
    <p:sldId xmlns:r="http://schemas.openxmlformats.org/officeDocument/2006/relationships" id="256" r:id="Rb7132f478af54249"/>
    <p:sldId xmlns:r="http://schemas.openxmlformats.org/officeDocument/2006/relationships" id="257" r:id="R1cdcaeca8ae24b13"/>
    <p:sldId xmlns:r="http://schemas.openxmlformats.org/officeDocument/2006/relationships" id="258" r:id="R9072b8b6a1ca42b2"/>
    <p:sldId xmlns:r="http://schemas.openxmlformats.org/officeDocument/2006/relationships" id="259" r:id="Rd365078e9c9643ae"/>
    <p:sldId xmlns:r="http://schemas.openxmlformats.org/officeDocument/2006/relationships" id="260" r:id="Ra07edf1ca0ee412e"/>
    <p:sldId xmlns:r="http://schemas.openxmlformats.org/officeDocument/2006/relationships" id="261" r:id="R49e00d56495c453c"/>
    <p:sldId xmlns:r="http://schemas.openxmlformats.org/officeDocument/2006/relationships" id="262" r:id="R4734581d64704a49"/>
    <p:sldId xmlns:r="http://schemas.openxmlformats.org/officeDocument/2006/relationships" id="263" r:id="R52ee39ffb61c4dbe"/>
    <p:sldId xmlns:r="http://schemas.openxmlformats.org/officeDocument/2006/relationships" id="264" r:id="R6caa6a7e8b0345ef"/>
    <p:sldId xmlns:r="http://schemas.openxmlformats.org/officeDocument/2006/relationships" id="265" r:id="Rb699b015df9d41c5"/>
    <p:sldId xmlns:r="http://schemas.openxmlformats.org/officeDocument/2006/relationships" id="266" r:id="Rdecec066f7fe49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57b37adf414ada" /><Relationship Type="http://schemas.openxmlformats.org/officeDocument/2006/relationships/slideMaster" Target="/ppt/slideMasters/slideMaster1.xml" Id="Rccb1d9dbe9b24ba2" /><Relationship Type="http://schemas.openxmlformats.org/officeDocument/2006/relationships/notesMaster" Target="/ppt/notesMasters/notesMaster1.xml" Id="R8fb91e6fe2bb4ef8" /><Relationship Type="http://schemas.openxmlformats.org/officeDocument/2006/relationships/presProps" Target="/ppt/presProps.xml" Id="Re470e3e39c8f43c5" /><Relationship Type="http://schemas.openxmlformats.org/officeDocument/2006/relationships/tableStyles" Target="/ppt/tableStyles.xml" Id="R87c611c97df641dd" /><Relationship Type="http://schemas.openxmlformats.org/officeDocument/2006/relationships/slide" Target="/ppt/slides/slide1.xml" Id="Rb7132f478af54249" /><Relationship Type="http://schemas.openxmlformats.org/officeDocument/2006/relationships/slide" Target="/ppt/slides/slide2.xml" Id="R1cdcaeca8ae24b13" /><Relationship Type="http://schemas.openxmlformats.org/officeDocument/2006/relationships/slide" Target="/ppt/slides/slide3.xml" Id="R9072b8b6a1ca42b2" /><Relationship Type="http://schemas.openxmlformats.org/officeDocument/2006/relationships/slide" Target="/ppt/slides/slide4.xml" Id="Rd365078e9c9643ae" /><Relationship Type="http://schemas.openxmlformats.org/officeDocument/2006/relationships/slide" Target="/ppt/slides/slide5.xml" Id="Ra07edf1ca0ee412e" /><Relationship Type="http://schemas.openxmlformats.org/officeDocument/2006/relationships/slide" Target="/ppt/slides/slide6.xml" Id="R49e00d56495c453c" /><Relationship Type="http://schemas.openxmlformats.org/officeDocument/2006/relationships/slide" Target="/ppt/slides/slide7.xml" Id="R4734581d64704a49" /><Relationship Type="http://schemas.openxmlformats.org/officeDocument/2006/relationships/slide" Target="/ppt/slides/slide8.xml" Id="R52ee39ffb61c4dbe" /><Relationship Type="http://schemas.openxmlformats.org/officeDocument/2006/relationships/slide" Target="/ppt/slides/slide9.xml" Id="R6caa6a7e8b0345ef" /><Relationship Type="http://schemas.openxmlformats.org/officeDocument/2006/relationships/slide" Target="/ppt/slides/slide10.xml" Id="Rb699b015df9d41c5" /><Relationship Type="http://schemas.openxmlformats.org/officeDocument/2006/relationships/slide" Target="/ppt/slides/slide11.xml" Id="Rdecec066f7fe49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54f9d24d4847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5a0986cc7c4e11" /><Relationship Type="http://schemas.openxmlformats.org/officeDocument/2006/relationships/notesMaster" Target="/ppt/notesMasters/notesMaster1.xml" Id="R1f3277a4f47645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2605b9d86d40d4" /><Relationship Type="http://schemas.openxmlformats.org/officeDocument/2006/relationships/notesMaster" Target="/ppt/notesMasters/notesMaster1.xml" Id="Ra5329925ddcc4f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27e75437144646" /><Relationship Type="http://schemas.openxmlformats.org/officeDocument/2006/relationships/notesMaster" Target="/ppt/notesMasters/notesMaster1.xml" Id="Rd43bf883e88349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4406d6e3c14ab2" /><Relationship Type="http://schemas.openxmlformats.org/officeDocument/2006/relationships/notesMaster" Target="/ppt/notesMasters/notesMaster1.xml" Id="Rbca38dbfb41643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2c5978e01047e4" /><Relationship Type="http://schemas.openxmlformats.org/officeDocument/2006/relationships/notesMaster" Target="/ppt/notesMasters/notesMaster1.xml" Id="R4a0102283a1741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81daf47f55491a" /><Relationship Type="http://schemas.openxmlformats.org/officeDocument/2006/relationships/notesMaster" Target="/ppt/notesMasters/notesMaster1.xml" Id="R079fe768c6b946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121706643b4b16" /><Relationship Type="http://schemas.openxmlformats.org/officeDocument/2006/relationships/notesMaster" Target="/ppt/notesMasters/notesMaster1.xml" Id="R8fc5ab273ec044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5bfb86fb6143d4" /><Relationship Type="http://schemas.openxmlformats.org/officeDocument/2006/relationships/notesMaster" Target="/ppt/notesMasters/notesMaster1.xml" Id="R475571cb57534f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b654473489474e" /><Relationship Type="http://schemas.openxmlformats.org/officeDocument/2006/relationships/notesMaster" Target="/ppt/notesMasters/notesMaster1.xml" Id="R9ff616267d234c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46b5867a4d647ce" /><Relationship Type="http://schemas.openxmlformats.org/officeDocument/2006/relationships/notesMaster" Target="/ppt/notesMasters/notesMaster1.xml" Id="R3fabb526fd804c8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fef9ca538cb45ff" /><Relationship Type="http://schemas.openxmlformats.org/officeDocument/2006/relationships/notesMaster" Target="/ppt/notesMasters/notesMaster1.xml" Id="R7ae2e568155446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docs/specification.md, README.md. Локальный прототип MVP. Данные профилей и достижений синтетические.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docs/architecture.md, docs/demo.md и реализация приглашений в backend/internal/app/invitations.go. Принятие раскрывает email только отправителю принятого приглашения.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docs/architecture.md, backend/internal/assessment/engine.go и scenarios.go. Порог 70 баллов требует минимум 5 из 6 ответов. Повтор той же категории через 24 часа, смена подтверждённой категории через 90 дней.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backend/internal/matching/rank.go, docs/architecture.md. Веса: тест 50, совпадение стека 40, ФСП 10. Достижения демонстрационные, бонус ограничен тремя. Стек в профиле самоописан, тест подтверждает общую специализацию и грейд. Без стека балл нормируется.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изображения: собственный скриншот приложения output/playwright/employer-overview.png. Данные синтетические. Локальное приложение http://localhost:8080.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собственный скриншот output/playwright/candidate-comparison.png. Демонстрационные профили. Совпадение стека опирается на самоописание, общая категория подтверждается тестом.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docs/assessment-validation.json, cmd/evaluate. По 100 новых seed=2..101 на девять категорий. Копирование ключа seed=1 без решения новых условий. Это механическая синтетическая проверка, не оценка реальных грейдов или устойчивости к помощи LLM.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docs/matching-dataset.json, docs/matching-validation.json, docs/matching-http-validation.json. 12 синтетических профилей и 15 запросов. k=1,2,3. Одинаковые фильтры категории для основного алгоритма и базовых вариантов. Ручная разметка на данных разработки, без независимой проверки. HTTP-прогон воспроизводит результат.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собственный скриншот output/playwright/vacancies-employer.png, backend/internal/app/vacancies.go. Контакты открываются только компании с действующим откликом, отзыв снимает это основание доступа.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backend/go.mod, frontend/package.json, compose.yaml и docs/architecture.md. Redis хранит сессии и счётчики. PostgreSQL хранит предметные данные, дедлайны и правила смены категории. Модульный монолит.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docs/architecture.md и ограничения README.md. Реальный API ФСП отсутствует в исходном ТЗ. OIDC/Keycloak, ATS и проверки работодателей являются предложенной концепцией. Нет подключённого внешнего LLM.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b4e16d2f2a4dd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3dc4e1a10e4ce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6dfd3083cc41c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b5122c566f4fb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0cad5030874af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d0d9cb92384c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B8D80A-9224-446E-A044-E50E90BF94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CF85F59-7DF4-4516-A6BB-408B9E3938C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B5983F4-E531-44BE-8DB8-B493D4BFE6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A913BF-78E5-4E49-AA21-2879D18290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1964C8B-5247-4073-BB8A-110E9AA36E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FBB30AA-FF69-42B0-ABC7-2CB57CDA5C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238E45A-921C-49AE-A0B8-57F1F6536F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F0041BA-E688-47F3-8E59-BD642AC3B48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73AD93-5E91-437C-929C-AE201315EA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407C40F-A516-4D11-9A00-5764208F55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b0f59edd08494f" /><Relationship Type="http://schemas.openxmlformats.org/officeDocument/2006/relationships/slideLayout" Target="/ppt/slideLayouts/slideLayout1.xml" Id="R01b34c4e7cab4a57" /><Relationship Type="http://schemas.openxmlformats.org/officeDocument/2006/relationships/slideLayout" Target="/ppt/slideLayouts/slideLayout2.xml" Id="R37e183df951249da" /><Relationship Type="http://schemas.openxmlformats.org/officeDocument/2006/relationships/slideLayout" Target="/ppt/slideLayouts/slideLayout3.xml" Id="R4ed56278299a403a" /><Relationship Type="http://schemas.openxmlformats.org/officeDocument/2006/relationships/slideLayout" Target="/ppt/slideLayouts/slideLayout4.xml" Id="Rcc37f04280a54d09" /><Relationship Type="http://schemas.openxmlformats.org/officeDocument/2006/relationships/slideLayout" Target="/ppt/slideLayouts/slideLayout5.xml" Id="R08dbcfa36f934fd1" /><Relationship Type="http://schemas.openxmlformats.org/officeDocument/2006/relationships/slideLayout" Target="/ppt/slideLayouts/slideLayout6.xml" Id="Rc2a49169829c4b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b34c4e7cab4a57"/>
    <p:sldLayoutId xmlns:r="http://schemas.openxmlformats.org/officeDocument/2006/relationships" id="2147483650" r:id="R37e183df951249da"/>
    <p:sldLayoutId xmlns:r="http://schemas.openxmlformats.org/officeDocument/2006/relationships" id="2147483651" r:id="R4ed56278299a403a"/>
    <p:sldLayoutId xmlns:r="http://schemas.openxmlformats.org/officeDocument/2006/relationships" id="2147483652" r:id="Rcc37f04280a54d09"/>
    <p:sldLayoutId xmlns:r="http://schemas.openxmlformats.org/officeDocument/2006/relationships" id="2147483653" r:id="R08dbcfa36f934fd1"/>
    <p:sldLayoutId xmlns:r="http://schemas.openxmlformats.org/officeDocument/2006/relationships" id="2147483654" r:id="Rc2a49169829c4b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f2c774a7bd49fd" /><Relationship Type="http://schemas.openxmlformats.org/officeDocument/2006/relationships/notesSlide" Target="/ppt/notesSlides/notesSlide1.xml" Id="R61ce8c18f3404b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e4321ec2dc42a3" /><Relationship Type="http://schemas.openxmlformats.org/officeDocument/2006/relationships/notesSlide" Target="/ppt/notesSlides/notesSlide2.xml" Id="R320ef2eadf7e49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3e73d7950a4c99" /><Relationship Type="http://schemas.openxmlformats.org/officeDocument/2006/relationships/notesSlide" Target="/ppt/notesSlides/notesSlide3.xml" Id="R109f12acc44742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2124acbbae46c7" /><Relationship Type="http://schemas.openxmlformats.org/officeDocument/2006/relationships/chart" Target="/ppt/slides/charts/chart1.xml" Id="Rd63d2c0adbec4b53" /><Relationship Type="http://schemas.openxmlformats.org/officeDocument/2006/relationships/notesSlide" Target="/ppt/notesSlides/notesSlide4.xml" Id="Rdecbba4c9c2e4c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9ea312e90a4cbd" /><Relationship Type="http://schemas.openxmlformats.org/officeDocument/2006/relationships/image" Target="/ppt/media/image.png" Id="R5f09916e490a4e58" /><Relationship Type="http://schemas.openxmlformats.org/officeDocument/2006/relationships/notesSlide" Target="/ppt/notesSlides/notesSlide5.xml" Id="R3d8d5d2156cf4f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fdc3475b1c44d7" /><Relationship Type="http://schemas.openxmlformats.org/officeDocument/2006/relationships/image" Target="/ppt/media/image2.png" Id="R835cef9d789c4f25" /><Relationship Type="http://schemas.openxmlformats.org/officeDocument/2006/relationships/notesSlide" Target="/ppt/notesSlides/notesSlide6.xml" Id="Rc2d4074c43b344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a5bd6484f7430f" /><Relationship Type="http://schemas.openxmlformats.org/officeDocument/2006/relationships/notesSlide" Target="/ppt/notesSlides/notesSlide7.xml" Id="R0ad0aafe41fa45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bc95340647453e" /><Relationship Type="http://schemas.openxmlformats.org/officeDocument/2006/relationships/notesSlide" Target="/ppt/notesSlides/notesSlide8.xml" Id="R48e720bfe28e4f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f8d96509b14cdb" /><Relationship Type="http://schemas.openxmlformats.org/officeDocument/2006/relationships/image" Target="/ppt/media/image3.png" Id="R759fb02eca194197" /><Relationship Type="http://schemas.openxmlformats.org/officeDocument/2006/relationships/notesSlide" Target="/ppt/notesSlides/notesSlide9.xml" Id="R81f03a0f2387454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bcf24bf95344c0" /><Relationship Type="http://schemas.openxmlformats.org/officeDocument/2006/relationships/notesSlide" Target="/ppt/notesSlides/notesSlide10.xml" Id="R2ef93525d380448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29e4ac407e44cd" /><Relationship Type="http://schemas.openxmlformats.org/officeDocument/2006/relationships/notesSlide" Target="/ppt/notesSlides/notesSlide11.xml" Id="R1cd57391bbfa429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Баллы</c:v>
          </c:tx>
          <c:spPr>
            <a:solidFill xmlns:a="http://schemas.openxmlformats.org/drawingml/2006/main">
              <a:srgbClr val="7496FF"/>
            </a:solidFill>
          </c:spPr>
          <c:cat>
            <c:strRef>
              <c:f>'Chart Data'!$A$2:$A$4</c:f>
              <c:strCache>
                <c:ptCount val="3"/>
                <c:pt idx="0">
                  <c:v>Результат теста</c:v>
                </c:pt>
                <c:pt idx="1">
                  <c:v>Совпадение стека</c:v>
                </c:pt>
                <c:pt idx="2">
                  <c:v>Достижения ФСП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50</c:v>
                </c:pt>
                <c:pt idx="1">
                  <c:v>40</c:v>
                </c:pt>
                <c:pt idx="2">
                  <c:v>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F1F5F7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1F5F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60"/>
          <c:min val="0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1F5F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11181C"/>
        </a:solidFill>
      </c:spPr>
    </c:plotArea>
    <c:plotVisOnly val="1"/>
  </c:chart>
  <c:spPr>
    <a:solidFill xmlns:a="http://schemas.openxmlformats.org/drawingml/2006/main">
      <a:srgbClr val="11181C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8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8C0B85-A95E-4E7A-96C9-4C8E128C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381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7496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7496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7496FF"/>
                </a:solidFill>
                <a:latin typeface="Arial"/>
                <a:ea typeface="Arial"/>
                <a:cs typeface="Arial"/>
              </a:rPr>
              <a:t>ФСП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13677C-676E-4F58-9EE4-747C23E4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9858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7050" b="1">
                <a:solidFill>
                  <a:srgbClr val="F1F5F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050" b="1">
                <a:solidFill>
                  <a:srgbClr val="F1F5F7"/>
                </a:solidFill>
                <a:latin typeface="Arial"/>
                <a:ea typeface="Arial"/>
                <a:cs typeface="Arial"/>
              </a:defRPr>
            </a:pPr>
            <a:r>
              <a:rPr sz="7050" b="1">
                <a:solidFill>
                  <a:srgbClr val="F1F5F7"/>
                </a:solidFill>
                <a:latin typeface="Arial"/>
                <a:ea typeface="Arial"/>
                <a:cs typeface="Arial"/>
              </a:rPr>
              <a:t>Карьера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E63D9-08CC-4338-A455-CA1F92AE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95675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0">
                <a:solidFill>
                  <a:srgbClr val="F1F5F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F1F5F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1F5F7"/>
                </a:solidFill>
                <a:latin typeface="Arial"/>
                <a:ea typeface="Arial"/>
                <a:cs typeface="Arial"/>
              </a:rPr>
              <a:t>Работодатель начинает разговор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32E962-F103-46DE-87B8-122415A3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981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B0BD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B0BDC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0BDC5"/>
                </a:solidFill>
                <a:latin typeface="Arial"/>
                <a:ea typeface="Arial"/>
                <a:cs typeface="Arial"/>
              </a:rPr>
              <a:t>Платформа подбора ИТ-специалистов</a:t>
            </a:r>
          </a:p>
          <a:p xmlns:a="http://schemas.openxmlformats.org/drawingml/2006/main">
            <a:pPr>
              <a:defRPr sz="2175" b="0">
                <a:solidFill>
                  <a:srgbClr val="B0BDC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0BDC5"/>
                </a:solidFill>
                <a:latin typeface="Arial"/>
                <a:ea typeface="Arial"/>
                <a:cs typeface="Arial"/>
              </a:rPr>
              <a:t>по подтверждённой категории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B2862C-4EC6-484D-BD9A-EF6FEDCD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B0BD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B0BD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0BDC5"/>
                </a:solidFill>
                <a:latin typeface="Arial"/>
                <a:ea typeface="Arial"/>
                <a:cs typeface="Arial"/>
              </a:rPr>
              <a:t>Прототип / октябрь 2026</a:t>
            </a:r>
          </a:p>
        </p:txBody>
      </p:sp>
    </p:spTree>
    <p:extLst>
      <p:ext uri="{BB962C8B-B14F-4D97-AF65-F5344CB8AC3E}">
        <p14:creationId xmlns:p14="http://schemas.microsoft.com/office/powerpoint/2010/main" val="14364304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8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B5B543-7FAD-4E91-8BCC-9FCA6A4C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F1F5F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1F5F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1F5F7"/>
                </a:solidFill>
                <a:latin typeface="Arial"/>
                <a:ea typeface="Arial"/>
                <a:cs typeface="Arial"/>
              </a:rPr>
              <a:t>Механика обратного найма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56B38A-A1BA-4680-99A4-382F9608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42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7496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7496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496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500BC-12C9-4484-9A84-546A06A3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5811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F1F5F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F1F5F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1F5F7"/>
                </a:solidFill>
                <a:latin typeface="Arial"/>
                <a:ea typeface="Arial"/>
                <a:cs typeface="Arial"/>
              </a:rPr>
              <a:t>Кандидат подтверждает уровень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C628C-25AB-4129-9A0D-79B32037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124075"/>
            <a:ext cx="952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B0BD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0BDC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0BDC5"/>
                </a:solidFill>
                <a:latin typeface="Arial"/>
                <a:ea typeface="Arial"/>
                <a:cs typeface="Arial"/>
              </a:rPr>
              <a:t>Профиль и тест определяют категорию, доступную работодателю.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BE3B46-5395-4065-9FA9-E4046E10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742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7496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7496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496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78C47D-45E3-4918-B2DF-503A1DAB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13372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F1F5F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F1F5F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1F5F7"/>
                </a:solidFill>
                <a:latin typeface="Arial"/>
                <a:ea typeface="Arial"/>
                <a:cs typeface="Arial"/>
              </a:rPr>
              <a:t>Работодатель выбирает человека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747F91-8163-49B8-982B-B27782E8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676650"/>
            <a:ext cx="952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B0BD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0BDC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0BDC5"/>
                </a:solidFill>
                <a:latin typeface="Arial"/>
                <a:ea typeface="Arial"/>
                <a:cs typeface="Arial"/>
              </a:rPr>
              <a:t>Поиск объясняет совпадение. Предложение сразу содержит зарплату.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287369-D412-4006-AC0A-0783F788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742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7496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7496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496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29B348-7E24-47F6-AAB3-482B4B1D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6863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F1F5F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F1F5F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1F5F7"/>
                </a:solidFill>
                <a:latin typeface="Arial"/>
                <a:ea typeface="Arial"/>
                <a:cs typeface="Arial"/>
              </a:rPr>
              <a:t>Кандидат разрешает контакт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80B727-ED2C-4A7A-9CFC-8514CE48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5229225"/>
            <a:ext cx="952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B0BD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0BDC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0BDC5"/>
                </a:solidFill>
                <a:latin typeface="Arial"/>
                <a:ea typeface="Arial"/>
                <a:cs typeface="Arial"/>
              </a:rPr>
              <a:t>Принятие приглашения открывает электронную почту этой компании.</a:t>
            </a:r>
          </a:p>
        </p:txBody>
      </p:sp>
    </p:spTree>
    <p:extLst>
      <p:ext uri="{BB962C8B-B14F-4D97-AF65-F5344CB8AC3E}">
        <p14:creationId xmlns:p14="http://schemas.microsoft.com/office/powerpoint/2010/main" val="7378868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8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B14BA8-42A1-496E-9678-1E35C33E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F1F5F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1F5F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1F5F7"/>
                </a:solidFill>
                <a:latin typeface="Arial"/>
                <a:ea typeface="Arial"/>
                <a:cs typeface="Arial"/>
              </a:rPr>
              <a:t>Подтверждение категории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F33AB6-2CE0-496D-B558-2B9AA771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5715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800" b="1">
                <a:solidFill>
                  <a:srgbClr val="7496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7496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7496FF"/>
                </a:solidFill>
                <a:latin typeface="Arial"/>
                <a:ea typeface="Arial"/>
                <a:cs typeface="Arial"/>
              </a:rPr>
              <a:t>6 заданий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BF404E-F951-4C16-AC5B-C3333020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657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0">
                <a:solidFill>
                  <a:srgbClr val="F1F5F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F1F5F7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1F5F7"/>
                </a:solidFill>
                <a:latin typeface="Arial"/>
                <a:ea typeface="Arial"/>
                <a:cs typeface="Arial"/>
              </a:rPr>
              <a:t>20 минут на попытку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03C42-8281-4701-84AC-2FDCE032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28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0">
                <a:solidFill>
                  <a:srgbClr val="F1F5F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F1F5F7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1F5F7"/>
                </a:solidFill>
                <a:latin typeface="Arial"/>
                <a:ea typeface="Arial"/>
                <a:cs typeface="Arial"/>
              </a:rPr>
              <a:t>5 правильных ответов для категории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679438-FBBC-4A71-A688-B2E1F23A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10191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B0BD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B0BDC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0BDC5"/>
                </a:solidFill>
                <a:latin typeface="Arial"/>
                <a:ea typeface="Arial"/>
                <a:cs typeface="Arial"/>
              </a:rPr>
              <a:t>Бэкенд, фронтенд, аналитика</a:t>
            </a:r>
          </a:p>
          <a:p xmlns:a="http://schemas.openxmlformats.org/drawingml/2006/main">
            <a:pPr>
              <a:defRPr sz="2250" b="0">
                <a:solidFill>
                  <a:srgbClr val="B0BDC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0BDC5"/>
                </a:solidFill>
                <a:latin typeface="Arial"/>
                <a:ea typeface="Arial"/>
                <a:cs typeface="Arial"/>
              </a:rPr>
              <a:t>Junior, Middle, Senior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D76064-2F8A-43A4-877C-F217DF7B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B0BD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0BDC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0BDC5"/>
                </a:solidFill>
                <a:latin typeface="Arial"/>
                <a:ea typeface="Arial"/>
                <a:cs typeface="Arial"/>
              </a:rPr>
              <a:t>При неудаче прежний грейд сохраняется.</a:t>
            </a:r>
          </a:p>
          <a:p xmlns:a="http://schemas.openxmlformats.org/drawingml/2006/main">
            <a:pPr>
              <a:defRPr sz="1950" b="0">
                <a:solidFill>
                  <a:srgbClr val="B0BDC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0BDC5"/>
                </a:solidFill>
                <a:latin typeface="Arial"/>
                <a:ea typeface="Arial"/>
                <a:cs typeface="Arial"/>
              </a:rPr>
              <a:t>Смена подтверждённой категории доступна через 90 дней.</a:t>
            </a:r>
          </a:p>
        </p:txBody>
      </p:sp>
    </p:spTree>
    <p:extLst>
      <p:ext uri="{BB962C8B-B14F-4D97-AF65-F5344CB8AC3E}">
        <p14:creationId xmlns:p14="http://schemas.microsoft.com/office/powerpoint/2010/main" val="11278703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8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DF749B-CA32-4C64-AFD5-19197E8C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F1F5F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1F5F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1F5F7"/>
                </a:solidFill>
                <a:latin typeface="Arial"/>
                <a:ea typeface="Arial"/>
                <a:cs typeface="Arial"/>
              </a:rPr>
              <a:t>Объяснение подбора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7D874-0BEA-498B-9D89-BF2D9FCB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B0BD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0BDC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0BDC5"/>
                </a:solidFill>
                <a:latin typeface="Arial"/>
                <a:ea typeface="Arial"/>
                <a:cs typeface="Arial"/>
              </a:rPr>
              <a:t>Максимальный вклад в балл соответствия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1E0B9A23-7B1E-4084-A4BC-EB506E1CC83D}"/>
              </a:ext>
            </a:extLst>
          </p:cNvPr>
          <p:cNvGraphicFramePr/>
          <p:nvPr/>
        </p:nvGraphicFramePr>
        <p:xfrm>
          <a:off xmlns:a="http://schemas.openxmlformats.org/drawingml/2006/main" x="685800" y="1962150"/>
          <a:ext xmlns:a="http://schemas.openxmlformats.org/drawingml/2006/main" cx="6905625" cy="3162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63d2c0adbec4b53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0231E6-1976-4565-98C3-EEC4DC4B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228850"/>
            <a:ext cx="3228975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F1F5F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1F5F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1F5F7"/>
                </a:solidFill>
                <a:latin typeface="Arial"/>
                <a:ea typeface="Arial"/>
                <a:cs typeface="Arial"/>
              </a:rPr>
              <a:t>ФСП даёт бонус.</a:t>
            </a:r>
          </a:p>
          <a:p xmlns:a="http://schemas.openxmlformats.org/drawingml/2006/main">
            <a:pPr>
              <a:defRPr sz="2250" b="0">
                <a:solidFill>
                  <a:srgbClr val="F1F5F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1F5F7"/>
                </a:solidFill>
                <a:latin typeface="Arial"/>
                <a:ea typeface="Arial"/>
                <a:cs typeface="Arial"/>
              </a:rPr>
              <a:t>Кандидат без истории</a:t>
            </a:r>
          </a:p>
          <a:p xmlns:a="http://schemas.openxmlformats.org/drawingml/2006/main">
            <a:pPr>
              <a:defRPr sz="2250" b="0">
                <a:solidFill>
                  <a:srgbClr val="F1F5F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1F5F7"/>
                </a:solidFill>
                <a:latin typeface="Arial"/>
                <a:ea typeface="Arial"/>
                <a:cs typeface="Arial"/>
              </a:rPr>
              <a:t>остаётся в подборке.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9CFBE7-D658-46DF-B8CF-BEE842AB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B0BD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0BDC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0BDC5"/>
                </a:solidFill>
                <a:latin typeface="Arial"/>
                <a:ea typeface="Arial"/>
                <a:cs typeface="Arial"/>
              </a:rPr>
              <a:t>Подтверждённая категория задаёт фильтр. Навыки профиля уточняют совпадение.</a:t>
            </a:r>
          </a:p>
        </p:txBody>
      </p:sp>
    </p:spTree>
    <p:extLst>
      <p:ext uri="{BB962C8B-B14F-4D97-AF65-F5344CB8AC3E}">
        <p14:creationId xmlns:p14="http://schemas.microsoft.com/office/powerpoint/2010/main" val="14862511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8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63A13A-48F2-4372-94DF-43B711DB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F1F5F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1F5F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1F5F7"/>
                </a:solidFill>
                <a:latin typeface="Arial"/>
                <a:ea typeface="Arial"/>
                <a:cs typeface="Arial"/>
              </a:rPr>
              <a:t>Кабинет работодателя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A6AAD4-563D-4637-9FA8-AD086E086E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09916e490a4e58"/>
          <a:stretch xmlns:a="http://schemas.openxmlformats.org/drawingml/2006/main"/>
        </p:blipFill>
        <p:spPr>
          <a:xfrm xmlns:a="http://schemas.openxmlformats.org/drawingml/2006/main">
            <a:off x="2735580" y="1447800"/>
            <a:ext cx="6720840" cy="46672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F72904-A5C9-4303-BEE8-019CCDC9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960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B0BD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B0BDC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0BDC5"/>
                </a:solidFill>
                <a:latin typeface="Arial"/>
                <a:ea typeface="Arial"/>
                <a:cs typeface="Arial"/>
              </a:rPr>
              <a:t>Потребность, категории и этапы найма в одном рабочем пространстве.</a:t>
            </a:r>
          </a:p>
        </p:txBody>
      </p:sp>
    </p:spTree>
    <p:extLst>
      <p:ext uri="{BB962C8B-B14F-4D97-AF65-F5344CB8AC3E}">
        <p14:creationId xmlns:p14="http://schemas.microsoft.com/office/powerpoint/2010/main" val="18119403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8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AFF4D5-6FD7-4BFC-9A4C-96EE7AD7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F1F5F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1F5F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1F5F7"/>
                </a:solidFill>
                <a:latin typeface="Arial"/>
                <a:ea typeface="Arial"/>
                <a:cs typeface="Arial"/>
              </a:rPr>
              <a:t>Сравнение кандидатов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4D8ED-CAB5-4B5A-A6FF-7A5FD07831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5cef9d789c4f25"/>
          <a:stretch xmlns:a="http://schemas.openxmlformats.org/drawingml/2006/main"/>
        </p:blipFill>
        <p:spPr>
          <a:xfrm xmlns:a="http://schemas.openxmlformats.org/drawingml/2006/main">
            <a:off x="2735580" y="1447800"/>
            <a:ext cx="6720840" cy="46672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8D738B-6145-434B-93BB-A274076E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960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B0BD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B0BDC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0BDC5"/>
                </a:solidFill>
                <a:latin typeface="Arial"/>
                <a:ea typeface="Arial"/>
                <a:cs typeface="Arial"/>
              </a:rPr>
              <a:t>До трёх профилей рядом. Видно совпадение и темы для уточнения.</a:t>
            </a:r>
          </a:p>
        </p:txBody>
      </p:sp>
    </p:spTree>
    <p:extLst>
      <p:ext uri="{BB962C8B-B14F-4D97-AF65-F5344CB8AC3E}">
        <p14:creationId xmlns:p14="http://schemas.microsoft.com/office/powerpoint/2010/main" val="17360616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8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ED391-E4C5-4FA2-B4A3-2DF3EE2B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F1F5F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1F5F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1F5F7"/>
                </a:solidFill>
                <a:latin typeface="Arial"/>
                <a:ea typeface="Arial"/>
                <a:cs typeface="Arial"/>
              </a:rPr>
              <a:t>Проверка вариантов тестов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ADD766-70F6-41A7-A8A3-D9A8736D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001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7500" b="1">
                <a:solidFill>
                  <a:srgbClr val="7496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0" b="1">
                <a:solidFill>
                  <a:srgbClr val="7496FF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7496FF"/>
                </a:solidFill>
                <a:latin typeface="Arial"/>
                <a:ea typeface="Arial"/>
                <a:cs typeface="Arial"/>
              </a:rPr>
              <a:t>0,3%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3A4C41-E52D-4FE4-93F4-C4C61A27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52775"/>
            <a:ext cx="1047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0">
                <a:solidFill>
                  <a:srgbClr val="F1F5F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F1F5F7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1F5F7"/>
                </a:solidFill>
                <a:latin typeface="Arial"/>
                <a:ea typeface="Arial"/>
                <a:cs typeface="Arial"/>
              </a:rPr>
              <a:t>3 из 900 новых тестов прошли</a:t>
            </a:r>
          </a:p>
          <a:p xmlns:a="http://schemas.openxmlformats.org/drawingml/2006/main">
            <a:pPr>
              <a:defRPr sz="2850" b="0">
                <a:solidFill>
                  <a:srgbClr val="F1F5F7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1F5F7"/>
                </a:solidFill>
                <a:latin typeface="Arial"/>
                <a:ea typeface="Arial"/>
                <a:cs typeface="Arial"/>
              </a:rPr>
              <a:t>с готовым ключом от другого варианта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89998D-9352-4BCD-801D-D95CEF45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B0BD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B0BDC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0BDC5"/>
                </a:solidFill>
                <a:latin typeface="Arial"/>
                <a:ea typeface="Arial"/>
                <a:cs typeface="Arial"/>
              </a:rPr>
              <a:t>Условия меняются при сохранении общего плана категории.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2C3A55-E8C3-4E5F-AFBA-9347C40D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10477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B0BD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0BDC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0BDC5"/>
                </a:solidFill>
                <a:latin typeface="Arial"/>
                <a:ea typeface="Arial"/>
                <a:cs typeface="Arial"/>
              </a:rPr>
              <a:t>Точность грейдов и сопоставимость сложности</a:t>
            </a:r>
          </a:p>
          <a:p xmlns:a="http://schemas.openxmlformats.org/drawingml/2006/main">
            <a:pPr>
              <a:defRPr sz="2025" b="0">
                <a:solidFill>
                  <a:srgbClr val="B0BDC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0BDC5"/>
                </a:solidFill>
                <a:latin typeface="Arial"/>
                <a:ea typeface="Arial"/>
                <a:cs typeface="Arial"/>
              </a:rPr>
              <a:t>ещё требуют проверки экспертами и кандидатами.</a:t>
            </a:r>
          </a:p>
        </p:txBody>
      </p:sp>
    </p:spTree>
    <p:extLst>
      <p:ext uri="{BB962C8B-B14F-4D97-AF65-F5344CB8AC3E}">
        <p14:creationId xmlns:p14="http://schemas.microsoft.com/office/powerpoint/2010/main" val="20315596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8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C52809-34B1-47D1-8FF4-DF371932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F1F5F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1F5F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1F5F7"/>
                </a:solidFill>
                <a:latin typeface="Arial"/>
                <a:ea typeface="Arial"/>
                <a:cs typeface="Arial"/>
              </a:rPr>
              <a:t>Проверка подбора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DC592B-32D8-4E0A-B150-C387E533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6900" b="1">
                <a:solidFill>
                  <a:srgbClr val="7496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900" b="1">
                <a:solidFill>
                  <a:srgbClr val="7496FF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7496FF"/>
                </a:solidFill>
                <a:latin typeface="Arial"/>
                <a:ea typeface="Arial"/>
                <a:cs typeface="Arial"/>
              </a:rPr>
              <a:t>0,967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BBBCC1-FB35-4847-B42E-2FD0DEF6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0">
                <a:solidFill>
                  <a:srgbClr val="F1F5F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F1F5F7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1F5F7"/>
                </a:solidFill>
                <a:latin typeface="Arial"/>
                <a:ea typeface="Arial"/>
                <a:cs typeface="Arial"/>
              </a:rPr>
              <a:t>Precision@k</a:t>
            </a:r>
          </a:p>
          <a:p xmlns:a="http://schemas.openxmlformats.org/drawingml/2006/main">
            <a:pPr>
              <a:defRPr sz="2550" b="0">
                <a:solidFill>
                  <a:srgbClr val="F1F5F7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1F5F7"/>
                </a:solidFill>
                <a:latin typeface="Arial"/>
                <a:ea typeface="Arial"/>
                <a:cs typeface="Arial"/>
              </a:rPr>
              <a:t>с учётом стека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0F50A4-5332-4D46-AFAD-3B7EAD70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638300"/>
            <a:ext cx="476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6900" b="1">
                <a:solidFill>
                  <a:srgbClr val="F1F5F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900" b="1">
                <a:solidFill>
                  <a:srgbClr val="F1F5F7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F1F5F7"/>
                </a:solidFill>
                <a:latin typeface="Arial"/>
                <a:ea typeface="Arial"/>
                <a:cs typeface="Arial"/>
              </a:rPr>
              <a:t>0,833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01D058-9258-4E80-8622-B3CD757A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10515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0">
                <a:solidFill>
                  <a:srgbClr val="B0BD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B0BDC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B0BDC5"/>
                </a:solidFill>
                <a:latin typeface="Arial"/>
                <a:ea typeface="Arial"/>
                <a:cs typeface="Arial"/>
              </a:rPr>
              <a:t>Только балл теста</a:t>
            </a:r>
          </a:p>
          <a:p xmlns:a="http://schemas.openxmlformats.org/drawingml/2006/main">
            <a:pPr>
              <a:defRPr sz="2550" b="0">
                <a:solidFill>
                  <a:srgbClr val="B0BDC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B0BDC5"/>
                </a:solidFill>
                <a:latin typeface="Arial"/>
                <a:ea typeface="Arial"/>
                <a:cs typeface="Arial"/>
              </a:rPr>
              <a:t>при тех же фильтрах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E3FF2-D395-49E1-8E2E-6606488B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F1F5F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1F5F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1F5F7"/>
                </a:solidFill>
                <a:latin typeface="Arial"/>
                <a:ea typeface="Arial"/>
                <a:cs typeface="Arial"/>
              </a:rPr>
              <a:t>12 профилей и 15 запросов с ручной разметкой.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B9F098-9EF6-4E03-899B-8BBEDE66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10477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B0BD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0BDC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0BDC5"/>
                </a:solidFill>
                <a:latin typeface="Arial"/>
                <a:ea typeface="Arial"/>
                <a:cs typeface="Arial"/>
              </a:rPr>
              <a:t>Синтетический набор разработки. Независимая проверка</a:t>
            </a:r>
          </a:p>
          <a:p xmlns:a="http://schemas.openxmlformats.org/drawingml/2006/main">
            <a:pPr>
              <a:defRPr sz="2025" b="0">
                <a:solidFill>
                  <a:srgbClr val="B0BDC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0BDC5"/>
                </a:solidFill>
                <a:latin typeface="Arial"/>
                <a:ea typeface="Arial"/>
                <a:cs typeface="Arial"/>
              </a:rPr>
              <a:t>с экспертами и реальными пользователями ещё впереди.</a:t>
            </a:r>
          </a:p>
        </p:txBody>
      </p:sp>
    </p:spTree>
    <p:extLst>
      <p:ext uri="{BB962C8B-B14F-4D97-AF65-F5344CB8AC3E}">
        <p14:creationId xmlns:p14="http://schemas.microsoft.com/office/powerpoint/2010/main" val="14183200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18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D12067-B354-4586-B732-0CDDFA3D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F1F5F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1F5F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1F5F7"/>
                </a:solidFill>
                <a:latin typeface="Arial"/>
                <a:ea typeface="Arial"/>
                <a:cs typeface="Arial"/>
              </a:rPr>
              <a:t>Вакансии и отклики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FFE486-04E6-4618-BEE0-477F28AAE7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9fb02eca194197"/>
          <a:stretch xmlns:a="http://schemas.openxmlformats.org/drawingml/2006/main"/>
        </p:blipFill>
        <p:spPr>
          <a:xfrm xmlns:a="http://schemas.openxmlformats.org/drawingml/2006/main">
            <a:off x="2735580" y="1447800"/>
            <a:ext cx="6720840" cy="46672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FF313B-59BD-409F-AC0F-73304AFA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960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B0BD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B0BDC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0BDC5"/>
                </a:solidFill>
                <a:latin typeface="Arial"/>
                <a:ea typeface="Arial"/>
                <a:cs typeface="Arial"/>
              </a:rPr>
              <a:t>Отклик дополняет обратный найм. Кандидат явно разрешает контакт.</a:t>
            </a:r>
          </a:p>
        </p:txBody>
      </p:sp>
    </p:spTree>
    <p:extLst>
      <p:ext uri="{BB962C8B-B14F-4D97-AF65-F5344CB8AC3E}">
        <p14:creationId xmlns:p14="http://schemas.microsoft.com/office/powerpoint/2010/main" val="16576464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8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F9E693-AD49-4B60-9C86-E00642E5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F1F5F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1F5F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1F5F7"/>
                </a:solidFill>
                <a:latin typeface="Arial"/>
                <a:ea typeface="Arial"/>
                <a:cs typeface="Arial"/>
              </a:rPr>
              <a:t>Стек и хранение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D8F38-A13F-409D-8455-35E86A7B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7496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7496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7496FF"/>
                </a:solidFill>
                <a:latin typeface="Arial"/>
                <a:ea typeface="Arial"/>
                <a:cs typeface="Arial"/>
              </a:rPr>
              <a:t>React + TypeScript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95DE0-9EEB-4784-9981-65FFCC2A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B0BD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B0BDC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0BDC5"/>
                </a:solidFill>
                <a:latin typeface="Arial"/>
                <a:ea typeface="Arial"/>
                <a:cs typeface="Arial"/>
              </a:rPr>
              <a:t>Vite, Tailwind, TanStack Query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AE8202-5F91-4F97-9935-3F32FF70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F1F5F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1F5F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1F5F7"/>
                </a:solidFill>
                <a:latin typeface="Arial"/>
                <a:ea typeface="Arial"/>
                <a:cs typeface="Arial"/>
              </a:rPr>
              <a:t>Go + chi + Huma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A23F1-FA01-48D9-8F25-549A60AC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B0BD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B0BDC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0BDC5"/>
                </a:solidFill>
                <a:latin typeface="Arial"/>
                <a:ea typeface="Arial"/>
                <a:cs typeface="Arial"/>
              </a:rPr>
              <a:t>Модульный монолит, OpenAPI, SMTP outbox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A6288E-9C1A-40D9-8DF6-4EEF84E9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F1F5F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1F5F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1F5F7"/>
                </a:solidFill>
                <a:latin typeface="Arial"/>
                <a:ea typeface="Arial"/>
                <a:cs typeface="Arial"/>
              </a:rPr>
              <a:t>PostgreSQL + Redis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12598D-A400-4939-A94A-8C11AB39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530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B0BD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B0BDC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0BDC5"/>
                </a:solidFill>
                <a:latin typeface="Arial"/>
                <a:ea typeface="Arial"/>
                <a:cs typeface="Arial"/>
              </a:rPr>
              <a:t>Результаты и правила в БД. Сессии и лимиты в Redis.</a:t>
            </a:r>
          </a:p>
        </p:txBody>
      </p:sp>
    </p:spTree>
    <p:extLst>
      <p:ext uri="{BB962C8B-B14F-4D97-AF65-F5344CB8AC3E}">
        <p14:creationId xmlns:p14="http://schemas.microsoft.com/office/powerpoint/2010/main" val="8013949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18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65AE7F-DC3F-424B-B01A-23C2E46B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F1F5F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1F5F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1F5F7"/>
                </a:solidFill>
                <a:latin typeface="Arial"/>
                <a:ea typeface="Arial"/>
                <a:cs typeface="Arial"/>
              </a:rPr>
              <a:t>Следующий этап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178E0-8269-47B3-A3F9-9E6C0CF5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42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7496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7496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496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6F2908-EF42-4619-8EBA-B760DE95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5049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F1F5F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F1F5F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1F5F7"/>
                </a:solidFill>
                <a:latin typeface="Arial"/>
                <a:ea typeface="Arial"/>
                <a:cs typeface="Arial"/>
              </a:rPr>
              <a:t>Экспертная калибровка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A462F-C6B1-4AF4-A28D-ADD9B94F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047875"/>
            <a:ext cx="952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B0BD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0BDC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0BDC5"/>
                </a:solidFill>
                <a:latin typeface="Arial"/>
                <a:ea typeface="Arial"/>
                <a:cs typeface="Arial"/>
              </a:rPr>
              <a:t>Расширение банка, независимая разметка грейдов и качества подбора.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2346D5-FBAF-40C8-B914-E67C76C2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742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7496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7496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496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BED6BD-E7E9-453B-8754-8E5BDD39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05752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F1F5F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F1F5F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1F5F7"/>
                </a:solidFill>
                <a:latin typeface="Arial"/>
                <a:ea typeface="Arial"/>
                <a:cs typeface="Arial"/>
              </a:rPr>
              <a:t>Интеграции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A4DE1B-89A7-4F53-B8D9-853A8693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600450"/>
            <a:ext cx="952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B0BD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0BDC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0BDC5"/>
                </a:solidFill>
                <a:latin typeface="Arial"/>
                <a:ea typeface="Arial"/>
                <a:cs typeface="Arial"/>
              </a:rPr>
              <a:t>ФСП ID через OIDC, контракт достижений и события для ATS.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80E7B6-4151-4E2F-8317-62A236AB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742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7496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7496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496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D99FAD-7FD8-4773-A329-DE1DDE0F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6101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F1F5F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F1F5F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1F5F7"/>
                </a:solidFill>
                <a:latin typeface="Arial"/>
                <a:ea typeface="Arial"/>
                <a:cs typeface="Arial"/>
              </a:rPr>
              <a:t>Внешний стенд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8529C7-0E3C-4BB0-A71C-26DAF792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5153025"/>
            <a:ext cx="952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B0BD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0BDC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0BDC5"/>
                </a:solidFill>
                <a:latin typeface="Arial"/>
                <a:ea typeface="Arial"/>
                <a:cs typeface="Arial"/>
              </a:rPr>
              <a:t>Домен, HTTPS, почтовый сервис и база без демоаккаунтов.</a:t>
            </a:r>
          </a:p>
        </p:txBody>
      </p:sp>
    </p:spTree>
    <p:extLst>
      <p:ext uri="{BB962C8B-B14F-4D97-AF65-F5344CB8AC3E}">
        <p14:creationId xmlns:p14="http://schemas.microsoft.com/office/powerpoint/2010/main" val="628182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2026-10-05T18:16:12.0000000Z</dcterms:created>
  <dcterms:modified xsi:type="dcterms:W3CDTF">2026-10-05T18:16:12.0000000Z</dcterms:modified>
</coreProperties>
</file>