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1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abb4e9f7eea4846" /><Relationship Type="http://schemas.openxmlformats.org/officeDocument/2006/relationships/extended-properties" Target="/docProps/app.xml" Id="R5ae9525feee64fea" /><Relationship Type="http://schemas.openxmlformats.org/officeDocument/2006/relationships/officeDocument" Target="/ppt/presentation.xml" Id="R7478365007f040d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fdd6d81cdd64dc7"/>
  </p:sldMasterIdLst>
  <p:notesMasterIdLst>
    <p:notesMasterId xmlns:r="http://schemas.openxmlformats.org/officeDocument/2006/relationships" r:id="R91571d344b724b8b"/>
  </p:notesMasterIdLst>
  <p:sldIdLst>
    <p:sldId xmlns:r="http://schemas.openxmlformats.org/officeDocument/2006/relationships" id="256" r:id="R8d4e45ab46df42a0"/>
    <p:sldId xmlns:r="http://schemas.openxmlformats.org/officeDocument/2006/relationships" id="257" r:id="R34e87af458e54204"/>
    <p:sldId xmlns:r="http://schemas.openxmlformats.org/officeDocument/2006/relationships" id="258" r:id="R4bae6674663c4a10"/>
    <p:sldId xmlns:r="http://schemas.openxmlformats.org/officeDocument/2006/relationships" id="259" r:id="Redc6f25e65084792"/>
    <p:sldId xmlns:r="http://schemas.openxmlformats.org/officeDocument/2006/relationships" id="260" r:id="Rcef34145bcd2400c"/>
    <p:sldId xmlns:r="http://schemas.openxmlformats.org/officeDocument/2006/relationships" id="261" r:id="R8bd0397212b14ed5"/>
    <p:sldId xmlns:r="http://schemas.openxmlformats.org/officeDocument/2006/relationships" id="262" r:id="Rdaf0aa9b7c8a46a0"/>
    <p:sldId xmlns:r="http://schemas.openxmlformats.org/officeDocument/2006/relationships" id="263" r:id="Re1b355625d94407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b256a397e194123" /><Relationship Type="http://schemas.openxmlformats.org/officeDocument/2006/relationships/slideMaster" Target="/ppt/slideMasters/slideMaster1.xml" Id="R7fdd6d81cdd64dc7" /><Relationship Type="http://schemas.openxmlformats.org/officeDocument/2006/relationships/notesMaster" Target="/ppt/notesMasters/notesMaster1.xml" Id="R91571d344b724b8b" /><Relationship Type="http://schemas.openxmlformats.org/officeDocument/2006/relationships/presProps" Target="/ppt/presProps.xml" Id="R8f667abe2abc47c3" /><Relationship Type="http://schemas.openxmlformats.org/officeDocument/2006/relationships/tableStyles" Target="/ppt/tableStyles.xml" Id="R9a9b7064b2a84a35" /><Relationship Type="http://schemas.openxmlformats.org/officeDocument/2006/relationships/slide" Target="/ppt/slides/slide1.xml" Id="R8d4e45ab46df42a0" /><Relationship Type="http://schemas.openxmlformats.org/officeDocument/2006/relationships/slide" Target="/ppt/slides/slide2.xml" Id="R34e87af458e54204" /><Relationship Type="http://schemas.openxmlformats.org/officeDocument/2006/relationships/slide" Target="/ppt/slides/slide3.xml" Id="R4bae6674663c4a10" /><Relationship Type="http://schemas.openxmlformats.org/officeDocument/2006/relationships/slide" Target="/ppt/slides/slide4.xml" Id="Redc6f25e65084792" /><Relationship Type="http://schemas.openxmlformats.org/officeDocument/2006/relationships/slide" Target="/ppt/slides/slide5.xml" Id="Rcef34145bcd2400c" /><Relationship Type="http://schemas.openxmlformats.org/officeDocument/2006/relationships/slide" Target="/ppt/slides/slide6.xml" Id="R8bd0397212b14ed5" /><Relationship Type="http://schemas.openxmlformats.org/officeDocument/2006/relationships/slide" Target="/ppt/slides/slide7.xml" Id="Rdaf0aa9b7c8a46a0" /><Relationship Type="http://schemas.openxmlformats.org/officeDocument/2006/relationships/slide" Target="/ppt/slides/slide8.xml" Id="Re1b355625d94407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51e52eeee554cd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6d786d96247495e" /><Relationship Type="http://schemas.openxmlformats.org/officeDocument/2006/relationships/notesMaster" Target="/ppt/notesMasters/notesMaster1.xml" Id="R6907b729e5d44fe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21a4355f00642f6" /><Relationship Type="http://schemas.openxmlformats.org/officeDocument/2006/relationships/notesMaster" Target="/ppt/notesMasters/notesMaster1.xml" Id="Rb443e97017ff47f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f057270a40d4b98" /><Relationship Type="http://schemas.openxmlformats.org/officeDocument/2006/relationships/notesMaster" Target="/ppt/notesMasters/notesMaster1.xml" Id="R0a57d568abb14e6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13dc5ad4d054244" /><Relationship Type="http://schemas.openxmlformats.org/officeDocument/2006/relationships/notesMaster" Target="/ppt/notesMasters/notesMaster1.xml" Id="Ra09d73deed1f4d4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a7ef7c62ae446a0" /><Relationship Type="http://schemas.openxmlformats.org/officeDocument/2006/relationships/notesMaster" Target="/ppt/notesMasters/notesMaster1.xml" Id="Rb6f05201795e447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92b29727cc34d16" /><Relationship Type="http://schemas.openxmlformats.org/officeDocument/2006/relationships/notesMaster" Target="/ppt/notesMasters/notesMaster1.xml" Id="Rf589af9bcf184ae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444997940794396" /><Relationship Type="http://schemas.openxmlformats.org/officeDocument/2006/relationships/notesMaster" Target="/ppt/notesMasters/notesMaster1.xml" Id="R39084604fb4a472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06792a8d2eb4550" /><Relationship Type="http://schemas.openxmlformats.org/officeDocument/2006/relationships/notesMaster" Target="/ppt/notesMasters/notesMaster1.xml" Id="Rc451bd442477462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Источник: docs/specification.md, README.md. Локальный прототип MVP. Данные профилей и достижений синтетические.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Источник: docs/architecture.md, docs/demo.md и реализация приглашений в backend/internal/app/invitations.go. Принятие раскрывает email только отправителю принятого приглашения.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Источник: docs/architecture.md, backend/internal/assessment/engine.go и scenarios.go. Порог 70 баллов требует минимум 5 из 6 ответов. Повтор той же категории через 24 часа, смена подтверждённой категории через 90 дней.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Источник: backend/internal/matching/rank.go, docs/architecture.md. Веса: тест 50, совпадение стека 40, ФСП 10. Достижения демонстрационные, бонус ограничен тремя. Стек в профиле самоописан, тест подтверждает общую специализацию и грейд. Без стека балл нормируется.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 изображения: собственный скриншот приложения output/playwright/employer-desktop.png. Данные синтетические. Локальное приложение http://localhost:8080.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Источник: docs/assessment-validation.json, cmd/evaluate. По 100 новых seed=2..101 на девять категорий. Копирование ключа seed=1 без решения новых условий. Это механическая синтетическая проверка, не оценка реальных грейдов или устойчивости к помощи LLM.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Источник: backend/go.mod, frontend/package.json, compose.yaml и docs/architecture.md. Redis хранит сессии и счётчики. PostgreSQL хранит предметные данные, дедлайны и правила смены категории. Модульный монолит.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Источник: docs/architecture.md и ограничения README.md. Реальный API ФСП отсутствует в исходном ТЗ. OIDC/Keycloak, ATS и проверки работодателей являются предложенной концепцией. Нет подключённого внешнего LLM.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9f42e0a472641c7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2fdf4e396ec486f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97538c5cc7c4fc4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89b0b00a06e4e82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89b8e9887b34cb6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897747d40d144c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899C964-F4C5-437A-8B7A-14C0EEE019A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5538C0A6-563D-40AD-AB62-B7ABB2BF762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6452148B-194A-4D97-B11A-C0B74E16E55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CD06512-D954-40B4-83B7-B4054DD063A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1958AA93-6931-4C1B-8D80-8BBFF448496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7E59C8C0-3742-4204-B41F-F827A2CD316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831F8AF1-C297-4AB8-8F91-5D9C1BC610F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07A44592-C905-49AE-9868-2F6BF01B89D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B0A9D4C-14CE-4EBE-8CC7-74745E10250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F36E581D-CB72-424E-BBC4-0E32134104B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5dab9c0ab65430b" /><Relationship Type="http://schemas.openxmlformats.org/officeDocument/2006/relationships/slideLayout" Target="/ppt/slideLayouts/slideLayout1.xml" Id="R4309b19059054ffa" /><Relationship Type="http://schemas.openxmlformats.org/officeDocument/2006/relationships/slideLayout" Target="/ppt/slideLayouts/slideLayout2.xml" Id="R9cc6471d9ee84658" /><Relationship Type="http://schemas.openxmlformats.org/officeDocument/2006/relationships/slideLayout" Target="/ppt/slideLayouts/slideLayout3.xml" Id="R1910d3c91e454fa5" /><Relationship Type="http://schemas.openxmlformats.org/officeDocument/2006/relationships/slideLayout" Target="/ppt/slideLayouts/slideLayout4.xml" Id="R30ae00277fca4c40" /><Relationship Type="http://schemas.openxmlformats.org/officeDocument/2006/relationships/slideLayout" Target="/ppt/slideLayouts/slideLayout5.xml" Id="R6d47c11ba58745f8" /><Relationship Type="http://schemas.openxmlformats.org/officeDocument/2006/relationships/slideLayout" Target="/ppt/slideLayouts/slideLayout6.xml" Id="Rc3e2c0babb95432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309b19059054ffa"/>
    <p:sldLayoutId xmlns:r="http://schemas.openxmlformats.org/officeDocument/2006/relationships" id="2147483650" r:id="R9cc6471d9ee84658"/>
    <p:sldLayoutId xmlns:r="http://schemas.openxmlformats.org/officeDocument/2006/relationships" id="2147483651" r:id="R1910d3c91e454fa5"/>
    <p:sldLayoutId xmlns:r="http://schemas.openxmlformats.org/officeDocument/2006/relationships" id="2147483652" r:id="R30ae00277fca4c40"/>
    <p:sldLayoutId xmlns:r="http://schemas.openxmlformats.org/officeDocument/2006/relationships" id="2147483653" r:id="R6d47c11ba58745f8"/>
    <p:sldLayoutId xmlns:r="http://schemas.openxmlformats.org/officeDocument/2006/relationships" id="2147483654" r:id="Rc3e2c0babb95432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2ac3b6aeceb44f7" /><Relationship Type="http://schemas.openxmlformats.org/officeDocument/2006/relationships/notesSlide" Target="/ppt/notesSlides/notesSlide1.xml" Id="R94ddfa6bbb08438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f8b3da8d0c54686" /><Relationship Type="http://schemas.openxmlformats.org/officeDocument/2006/relationships/notesSlide" Target="/ppt/notesSlides/notesSlide2.xml" Id="Rb3078a2eaa3146c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0d9001fd6a64eb4" /><Relationship Type="http://schemas.openxmlformats.org/officeDocument/2006/relationships/notesSlide" Target="/ppt/notesSlides/notesSlide3.xml" Id="R504f80dc5546414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0ea3915b5824bcf" /><Relationship Type="http://schemas.openxmlformats.org/officeDocument/2006/relationships/chart" Target="/ppt/slides/charts/chart1.xml" Id="Rf6537c3c85f44d79" /><Relationship Type="http://schemas.openxmlformats.org/officeDocument/2006/relationships/notesSlide" Target="/ppt/notesSlides/notesSlide4.xml" Id="R48b2e33bfa01428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944cbd4807746a0" /><Relationship Type="http://schemas.openxmlformats.org/officeDocument/2006/relationships/image" Target="/ppt/media/image.png" Id="R766a867d3430403b" /><Relationship Type="http://schemas.openxmlformats.org/officeDocument/2006/relationships/notesSlide" Target="/ppt/notesSlides/notesSlide5.xml" Id="Rec65481814c34fa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ae1033ae89642bc" /><Relationship Type="http://schemas.openxmlformats.org/officeDocument/2006/relationships/notesSlide" Target="/ppt/notesSlides/notesSlide6.xml" Id="R47fdfd2c491a45c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9c5c58a079d4b46" /><Relationship Type="http://schemas.openxmlformats.org/officeDocument/2006/relationships/notesSlide" Target="/ppt/notesSlides/notesSlide7.xml" Id="R7f645a9eabbc4b9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1019656b0cc4160" /><Relationship Type="http://schemas.openxmlformats.org/officeDocument/2006/relationships/notesSlide" Target="/ppt/notesSlides/notesSlide8.xml" Id="Rb657e8be1c214343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Баллы</c:v>
          </c:tx>
          <c:spPr>
            <a:solidFill xmlns:a="http://schemas.openxmlformats.org/drawingml/2006/main">
              <a:srgbClr val="7496FF"/>
            </a:solidFill>
          </c:spPr>
          <c:cat>
            <c:strRef>
              <c:f>'Chart Data'!$A$2:$A$4</c:f>
              <c:strCache>
                <c:ptCount val="3"/>
                <c:pt idx="0">
                  <c:v>Результат теста</c:v>
                </c:pt>
                <c:pt idx="1">
                  <c:v>Совпадение стека</c:v>
                </c:pt>
                <c:pt idx="2">
                  <c:v>Достижения ФСП</c:v>
                </c:pt>
              </c:strCache>
            </c:strRef>
          </c:cat>
          <c:val>
            <c:numRef>
              <c:f>'Chart Data'!$B$2:$B$4</c:f>
              <c:numCache>
                <c:formatCode>General</c:formatCode>
                <c:ptCount val="3"/>
                <c:pt idx="0">
                  <c:v>50</c:v>
                </c:pt>
                <c:pt idx="1">
                  <c:v>40</c:v>
                </c:pt>
                <c:pt idx="2">
                  <c:v>10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950" b="1">
                  <a:solidFill>
                    <a:srgbClr val="F1F5F7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F1F5F7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ax val="60"/>
          <c:min val="0"/>
        </c:scaling>
        <c:delete val="1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F1F5F7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11181C"/>
        </a:solidFill>
      </c:spPr>
    </c:plotArea>
    <c:plotVisOnly val="1"/>
  </c:chart>
  <c:spPr>
    <a:solidFill xmlns:a="http://schemas.openxmlformats.org/drawingml/2006/main">
      <a:srgbClr val="11181C"/>
    </a:solidFill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118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4B0932D-216E-4B8D-BB4D-F65254CFA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3810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000" b="1">
                <a:solidFill>
                  <a:srgbClr val="7496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7496FF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7496FF"/>
                </a:solidFill>
                <a:latin typeface="Arial"/>
                <a:ea typeface="Arial"/>
                <a:cs typeface="Arial"/>
              </a:rPr>
              <a:t>ФСП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A78140-82F5-40E8-882C-AEE48BEA7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52625"/>
            <a:ext cx="9858375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7050" b="1">
                <a:solidFill>
                  <a:srgbClr val="F1F5F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7050" b="1">
                <a:solidFill>
                  <a:srgbClr val="F1F5F7"/>
                </a:solidFill>
                <a:latin typeface="Arial"/>
                <a:ea typeface="Arial"/>
                <a:cs typeface="Arial"/>
              </a:defRPr>
            </a:pPr>
            <a:r>
              <a:rPr sz="7050" b="1">
                <a:solidFill>
                  <a:srgbClr val="F1F5F7"/>
                </a:solidFill>
                <a:latin typeface="Arial"/>
                <a:ea typeface="Arial"/>
                <a:cs typeface="Arial"/>
              </a:rPr>
              <a:t>Карьера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0F8583E-3FB5-4321-A566-794651DFA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95675"/>
            <a:ext cx="10477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000" b="0">
                <a:solidFill>
                  <a:srgbClr val="F1F5F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000" b="0">
                <a:solidFill>
                  <a:srgbClr val="F1F5F7"/>
                </a:solidFill>
                <a:latin typeface="Arial"/>
                <a:ea typeface="Arial"/>
                <a:cs typeface="Arial"/>
              </a:defRPr>
            </a:pPr>
            <a:r>
              <a:rPr sz="3000" b="0">
                <a:solidFill>
                  <a:srgbClr val="F1F5F7"/>
                </a:solidFill>
                <a:latin typeface="Arial"/>
                <a:ea typeface="Arial"/>
                <a:cs typeface="Arial"/>
              </a:rPr>
              <a:t>Работодатель начинает разговор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D1EB3B-5DE7-415F-82F1-026D74CA1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72000"/>
            <a:ext cx="9810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75" b="0">
                <a:solidFill>
                  <a:srgbClr val="B0BDC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B0BDC5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B0BDC5"/>
                </a:solidFill>
                <a:latin typeface="Arial"/>
                <a:ea typeface="Arial"/>
                <a:cs typeface="Arial"/>
              </a:rPr>
              <a:t>Платформа подбора ИТ-специалистов</a:t>
            </a:r>
          </a:p>
          <a:p xmlns:a="http://schemas.openxmlformats.org/drawingml/2006/main">
            <a:pPr>
              <a:defRPr sz="2175" b="0">
                <a:solidFill>
                  <a:srgbClr val="B0BDC5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B0BDC5"/>
                </a:solidFill>
                <a:latin typeface="Arial"/>
                <a:ea typeface="Arial"/>
                <a:cs typeface="Arial"/>
              </a:rPr>
              <a:t>по подтверждённой категории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9BF007-8371-4AF5-B754-4A9E23BF6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91250"/>
            <a:ext cx="857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 b="0">
                <a:solidFill>
                  <a:srgbClr val="B0BDC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B0BDC5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B0BDC5"/>
                </a:solidFill>
                <a:latin typeface="Arial"/>
                <a:ea typeface="Arial"/>
                <a:cs typeface="Arial"/>
              </a:rPr>
              <a:t>Прототип / октябрь 2026</a:t>
            </a:r>
          </a:p>
        </p:txBody>
      </p:sp>
    </p:spTree>
    <p:extLst>
      <p:ext uri="{BB962C8B-B14F-4D97-AF65-F5344CB8AC3E}">
        <p14:creationId xmlns:p14="http://schemas.microsoft.com/office/powerpoint/2010/main" val="161480306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1118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5B642EC-DF2B-4B83-9918-7A3AB7C7F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7200"/>
            <a:ext cx="1082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300" b="1">
                <a:solidFill>
                  <a:srgbClr val="F1F5F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F1F5F7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1F5F7"/>
                </a:solidFill>
                <a:latin typeface="Arial"/>
                <a:ea typeface="Arial"/>
                <a:cs typeface="Arial"/>
              </a:rPr>
              <a:t>Механика обратного найма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48A368E-6DD3-4CD0-B643-B57E9CD18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81150"/>
            <a:ext cx="7429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7496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7496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7496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811A00-7FAD-42E7-8B8A-C2406A82F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5925" y="1581150"/>
            <a:ext cx="952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250" b="1">
                <a:solidFill>
                  <a:srgbClr val="F1F5F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250" b="1">
                <a:solidFill>
                  <a:srgbClr val="F1F5F7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F1F5F7"/>
                </a:solidFill>
                <a:latin typeface="Arial"/>
                <a:ea typeface="Arial"/>
                <a:cs typeface="Arial"/>
              </a:rPr>
              <a:t>Кандидат подтверждает уровень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6CF813-330A-40D7-A017-9EB06974B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5925" y="2124075"/>
            <a:ext cx="9525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0">
                <a:solidFill>
                  <a:srgbClr val="B0BDC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B0BDC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B0BDC5"/>
                </a:solidFill>
                <a:latin typeface="Arial"/>
                <a:ea typeface="Arial"/>
                <a:cs typeface="Arial"/>
              </a:rPr>
              <a:t>Профиль и тест определяют категорию, доступную работодателю.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BD8C0B-2A19-40D8-A866-8F5F4B83B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33725"/>
            <a:ext cx="7429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7496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7496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7496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12146D-BEA1-427E-8713-871C8DA46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5925" y="3133725"/>
            <a:ext cx="952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250" b="1">
                <a:solidFill>
                  <a:srgbClr val="F1F5F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250" b="1">
                <a:solidFill>
                  <a:srgbClr val="F1F5F7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F1F5F7"/>
                </a:solidFill>
                <a:latin typeface="Arial"/>
                <a:ea typeface="Arial"/>
                <a:cs typeface="Arial"/>
              </a:rPr>
              <a:t>Работодатель выбирает человека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FDC893B-93DE-40BB-B778-7AC60936D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5925" y="3676650"/>
            <a:ext cx="9525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0">
                <a:solidFill>
                  <a:srgbClr val="B0BDC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B0BDC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B0BDC5"/>
                </a:solidFill>
                <a:latin typeface="Arial"/>
                <a:ea typeface="Arial"/>
                <a:cs typeface="Arial"/>
              </a:rPr>
              <a:t>Поиск объясняет совпадение. Предложение сразу содержит зарплату.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E31D961-EDB6-45AD-8BE7-56FF81B24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86300"/>
            <a:ext cx="7429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7496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7496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7496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85089B2-1A11-4A56-8724-47B77230A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5925" y="4686300"/>
            <a:ext cx="952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250" b="1">
                <a:solidFill>
                  <a:srgbClr val="F1F5F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250" b="1">
                <a:solidFill>
                  <a:srgbClr val="F1F5F7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F1F5F7"/>
                </a:solidFill>
                <a:latin typeface="Arial"/>
                <a:ea typeface="Arial"/>
                <a:cs typeface="Arial"/>
              </a:rPr>
              <a:t>Кандидат разрешает контакт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1343F55-A6C5-49AC-9371-F96B2FEFC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5925" y="5229225"/>
            <a:ext cx="9525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0">
                <a:solidFill>
                  <a:srgbClr val="B0BDC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B0BDC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B0BDC5"/>
                </a:solidFill>
                <a:latin typeface="Arial"/>
                <a:ea typeface="Arial"/>
                <a:cs typeface="Arial"/>
              </a:rPr>
              <a:t>Принятие приглашения открывает электронную почту этой компании.</a:t>
            </a:r>
          </a:p>
        </p:txBody>
      </p:sp>
    </p:spTree>
    <p:extLst>
      <p:ext uri="{BB962C8B-B14F-4D97-AF65-F5344CB8AC3E}">
        <p14:creationId xmlns:p14="http://schemas.microsoft.com/office/powerpoint/2010/main" val="152796505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1118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F46566B-1A4F-4E81-B663-83B387D7D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7200"/>
            <a:ext cx="1082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300" b="1">
                <a:solidFill>
                  <a:srgbClr val="F1F5F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F1F5F7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1F5F7"/>
                </a:solidFill>
                <a:latin typeface="Arial"/>
                <a:ea typeface="Arial"/>
                <a:cs typeface="Arial"/>
              </a:rPr>
              <a:t>Подтверждение категории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C821F84-5E5B-4B7D-A9CC-63BE4DE34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9725"/>
            <a:ext cx="5715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4800" b="1">
                <a:solidFill>
                  <a:srgbClr val="7496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4800" b="1">
                <a:solidFill>
                  <a:srgbClr val="7496FF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7496FF"/>
                </a:solidFill>
                <a:latin typeface="Arial"/>
                <a:ea typeface="Arial"/>
                <a:cs typeface="Arial"/>
              </a:rPr>
              <a:t>6 заданий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85B6C3-D5C0-4258-B25F-4DFD92B33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43175"/>
            <a:ext cx="6572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550" b="0">
                <a:solidFill>
                  <a:srgbClr val="F1F5F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550" b="0">
                <a:solidFill>
                  <a:srgbClr val="F1F5F7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F1F5F7"/>
                </a:solidFill>
                <a:latin typeface="Arial"/>
                <a:ea typeface="Arial"/>
                <a:cs typeface="Arial"/>
              </a:rPr>
              <a:t>20 минут на попытку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B92AB6-7AA0-49EB-B0F7-901863B0B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28975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550" b="0">
                <a:solidFill>
                  <a:srgbClr val="F1F5F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550" b="0">
                <a:solidFill>
                  <a:srgbClr val="F1F5F7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F1F5F7"/>
                </a:solidFill>
                <a:latin typeface="Arial"/>
                <a:ea typeface="Arial"/>
                <a:cs typeface="Arial"/>
              </a:rPr>
              <a:t>5 правильных ответов для категории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3712C8-FC95-4E3D-BD19-59FA63ED6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76725"/>
            <a:ext cx="1019175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250" b="0">
                <a:solidFill>
                  <a:srgbClr val="B0BDC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B0BDC5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B0BDC5"/>
                </a:solidFill>
                <a:latin typeface="Arial"/>
                <a:ea typeface="Arial"/>
                <a:cs typeface="Arial"/>
              </a:rPr>
              <a:t>Бэкенд, фронтенд, аналитика</a:t>
            </a:r>
          </a:p>
          <a:p xmlns:a="http://schemas.openxmlformats.org/drawingml/2006/main">
            <a:pPr>
              <a:defRPr sz="2250" b="0">
                <a:solidFill>
                  <a:srgbClr val="B0BDC5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B0BDC5"/>
                </a:solidFill>
                <a:latin typeface="Arial"/>
                <a:ea typeface="Arial"/>
                <a:cs typeface="Arial"/>
              </a:rPr>
              <a:t>Junior, Middle, Senior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C174A9D-2FAB-4D3E-84DC-65E3A02C9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76875"/>
            <a:ext cx="10763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0">
                <a:solidFill>
                  <a:srgbClr val="B0BDC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B0BDC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B0BDC5"/>
                </a:solidFill>
                <a:latin typeface="Arial"/>
                <a:ea typeface="Arial"/>
                <a:cs typeface="Arial"/>
              </a:rPr>
              <a:t>При неудаче прежний грейд сохраняется.</a:t>
            </a:r>
          </a:p>
          <a:p xmlns:a="http://schemas.openxmlformats.org/drawingml/2006/main">
            <a:pPr>
              <a:defRPr sz="1950" b="0">
                <a:solidFill>
                  <a:srgbClr val="B0BDC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B0BDC5"/>
                </a:solidFill>
                <a:latin typeface="Arial"/>
                <a:ea typeface="Arial"/>
                <a:cs typeface="Arial"/>
              </a:rPr>
              <a:t>Смена подтверждённой категории доступна через 90 дней.</a:t>
            </a:r>
          </a:p>
        </p:txBody>
      </p:sp>
    </p:spTree>
    <p:extLst>
      <p:ext uri="{BB962C8B-B14F-4D97-AF65-F5344CB8AC3E}">
        <p14:creationId xmlns:p14="http://schemas.microsoft.com/office/powerpoint/2010/main" val="190327976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1118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A710FCC-87DC-4A78-B0FB-F1BAB45A2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7200"/>
            <a:ext cx="1082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300" b="1">
                <a:solidFill>
                  <a:srgbClr val="F1F5F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F1F5F7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1F5F7"/>
                </a:solidFill>
                <a:latin typeface="Arial"/>
                <a:ea typeface="Arial"/>
                <a:cs typeface="Arial"/>
              </a:rPr>
              <a:t>Объяснение подбора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746E21B-075C-44C3-B892-5A255AC4F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71600"/>
            <a:ext cx="10572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0">
                <a:solidFill>
                  <a:srgbClr val="B0BDC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B0BDC5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B0BDC5"/>
                </a:solidFill>
                <a:latin typeface="Arial"/>
                <a:ea typeface="Arial"/>
                <a:cs typeface="Arial"/>
              </a:rPr>
              <a:t>Максимальный вклад в балл соответствия</a:t>
            </a:r>
          </a:p>
        </p:txBody>
      </p:sp>
      <p:graphicFrame>
        <p:nvGraphicFramePr>
          <p:cNvPr id="3" name="Chart">
            <a:extLst xmlns:a="http://schemas.openxmlformats.org/drawingml/2006/main">
              <a:ext uri="{FF2B5EF4-FFF2-40B4-BE49-F238E27FC236}">
                <a16:creationId xmlns:a16="http://schemas.microsoft.com/office/drawing/2014/main" id="{2E7230A8-994F-4ED8-A191-A61AA14487A4}"/>
              </a:ext>
            </a:extLst>
          </p:cNvPr>
          <p:cNvGraphicFramePr/>
          <p:nvPr/>
        </p:nvGraphicFramePr>
        <p:xfrm>
          <a:off xmlns:a="http://schemas.openxmlformats.org/drawingml/2006/main" x="685800" y="1962150"/>
          <a:ext xmlns:a="http://schemas.openxmlformats.org/drawingml/2006/main" cx="6905625" cy="31623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6537c3c85f44d79"/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8156A0-36B6-4753-8C51-344405C2A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2228850"/>
            <a:ext cx="3228975" cy="1885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250" b="0">
                <a:solidFill>
                  <a:srgbClr val="F1F5F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F1F5F7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F1F5F7"/>
                </a:solidFill>
                <a:latin typeface="Arial"/>
                <a:ea typeface="Arial"/>
                <a:cs typeface="Arial"/>
              </a:rPr>
              <a:t>ФСП даёт бонус.</a:t>
            </a:r>
          </a:p>
          <a:p xmlns:a="http://schemas.openxmlformats.org/drawingml/2006/main">
            <a:pPr>
              <a:defRPr sz="2250" b="0">
                <a:solidFill>
                  <a:srgbClr val="F1F5F7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F1F5F7"/>
                </a:solidFill>
                <a:latin typeface="Arial"/>
                <a:ea typeface="Arial"/>
                <a:cs typeface="Arial"/>
              </a:rPr>
              <a:t>Кандидат без истории</a:t>
            </a:r>
          </a:p>
          <a:p xmlns:a="http://schemas.openxmlformats.org/drawingml/2006/main">
            <a:pPr>
              <a:defRPr sz="2250" b="0">
                <a:solidFill>
                  <a:srgbClr val="F1F5F7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F1F5F7"/>
                </a:solidFill>
                <a:latin typeface="Arial"/>
                <a:ea typeface="Arial"/>
                <a:cs typeface="Arial"/>
              </a:rPr>
              <a:t>остаётся в подборке.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6C77BBD-68A6-45A3-B7AF-6E18F9B78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67375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0">
                <a:solidFill>
                  <a:srgbClr val="B0BDC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B0BDC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B0BDC5"/>
                </a:solidFill>
                <a:latin typeface="Arial"/>
                <a:ea typeface="Arial"/>
                <a:cs typeface="Arial"/>
              </a:rPr>
              <a:t>Подтверждённая категория задаёт фильтр. Навыки профиля уточняют совпадение.</a:t>
            </a:r>
          </a:p>
        </p:txBody>
      </p:sp>
    </p:spTree>
    <p:extLst>
      <p:ext uri="{BB962C8B-B14F-4D97-AF65-F5344CB8AC3E}">
        <p14:creationId xmlns:p14="http://schemas.microsoft.com/office/powerpoint/2010/main" val="74287821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1118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928AEC-410E-42CB-BFDF-990B816A6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7200"/>
            <a:ext cx="1082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300" b="1">
                <a:solidFill>
                  <a:srgbClr val="F1F5F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F1F5F7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1F5F7"/>
                </a:solidFill>
                <a:latin typeface="Arial"/>
                <a:ea typeface="Arial"/>
                <a:cs typeface="Arial"/>
              </a:rPr>
              <a:t>Рабочий прототип</a:t>
            </a:r>
          </a:p>
        </p:txBody>
      </p:sp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3B5337-90E3-4381-8114-0CA0C46D6CC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66a867d3430403b"/>
          <a:stretch xmlns:a="http://schemas.openxmlformats.org/drawingml/2006/main"/>
        </p:blipFill>
        <p:spPr>
          <a:xfrm xmlns:a="http://schemas.openxmlformats.org/drawingml/2006/main">
            <a:off x="1947333" y="1447800"/>
            <a:ext cx="8297333" cy="46672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5AE360-F45D-43B5-97E1-9D4943305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96025"/>
            <a:ext cx="1057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0">
                <a:solidFill>
                  <a:srgbClr val="B0BDC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B0BDC5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B0BDC5"/>
                </a:solidFill>
                <a:latin typeface="Arial"/>
                <a:ea typeface="Arial"/>
                <a:cs typeface="Arial"/>
              </a:rPr>
              <a:t>Два кабинета. Поиск, профиль и приглашения с зарплатой.</a:t>
            </a:r>
          </a:p>
        </p:txBody>
      </p:sp>
    </p:spTree>
    <p:extLst>
      <p:ext uri="{BB962C8B-B14F-4D97-AF65-F5344CB8AC3E}">
        <p14:creationId xmlns:p14="http://schemas.microsoft.com/office/powerpoint/2010/main" val="164128549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1118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F85888C-CA5E-4BFA-99B0-C1D088ABE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7200"/>
            <a:ext cx="1082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300" b="1">
                <a:solidFill>
                  <a:srgbClr val="F1F5F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F1F5F7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1F5F7"/>
                </a:solidFill>
                <a:latin typeface="Arial"/>
                <a:ea typeface="Arial"/>
                <a:cs typeface="Arial"/>
              </a:rPr>
              <a:t>Проверка вариантов тестов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2CB0F4-4E6E-4145-A1BF-AB342A059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10001250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7500" b="1">
                <a:solidFill>
                  <a:srgbClr val="7496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7500" b="1">
                <a:solidFill>
                  <a:srgbClr val="7496FF"/>
                </a:solidFill>
                <a:latin typeface="Arial"/>
                <a:ea typeface="Arial"/>
                <a:cs typeface="Arial"/>
              </a:defRPr>
            </a:pPr>
            <a:r>
              <a:rPr sz="7500" b="1">
                <a:solidFill>
                  <a:srgbClr val="7496FF"/>
                </a:solidFill>
                <a:latin typeface="Arial"/>
                <a:ea typeface="Arial"/>
                <a:cs typeface="Arial"/>
              </a:rPr>
              <a:t>3,4%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618DCB-CFDB-4D3A-927F-F203B0588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52775"/>
            <a:ext cx="104775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850" b="0">
                <a:solidFill>
                  <a:srgbClr val="F1F5F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850" b="0">
                <a:solidFill>
                  <a:srgbClr val="F1F5F7"/>
                </a:solidFill>
                <a:latin typeface="Arial"/>
                <a:ea typeface="Arial"/>
                <a:cs typeface="Arial"/>
              </a:defRPr>
            </a:pPr>
            <a:r>
              <a:rPr sz="2850" b="0">
                <a:solidFill>
                  <a:srgbClr val="F1F5F7"/>
                </a:solidFill>
                <a:latin typeface="Arial"/>
                <a:ea typeface="Arial"/>
                <a:cs typeface="Arial"/>
              </a:rPr>
              <a:t>31 из 900 новых тестов прошли</a:t>
            </a:r>
          </a:p>
          <a:p xmlns:a="http://schemas.openxmlformats.org/drawingml/2006/main">
            <a:pPr>
              <a:defRPr sz="2850" b="0">
                <a:solidFill>
                  <a:srgbClr val="F1F5F7"/>
                </a:solidFill>
                <a:latin typeface="Arial"/>
                <a:ea typeface="Arial"/>
                <a:cs typeface="Arial"/>
              </a:defRPr>
            </a:pPr>
            <a:r>
              <a:rPr sz="2850" b="0">
                <a:solidFill>
                  <a:srgbClr val="F1F5F7"/>
                </a:solidFill>
                <a:latin typeface="Arial"/>
                <a:ea typeface="Arial"/>
                <a:cs typeface="Arial"/>
              </a:rPr>
              <a:t>с готовым ключом от другого варианта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6FD6107-9784-404C-9A57-83D4AAAA7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95825"/>
            <a:ext cx="10477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75" b="0">
                <a:solidFill>
                  <a:srgbClr val="B0BDC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B0BDC5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B0BDC5"/>
                </a:solidFill>
                <a:latin typeface="Arial"/>
                <a:ea typeface="Arial"/>
                <a:cs typeface="Arial"/>
              </a:rPr>
              <a:t>Условия меняются при сохранении общего плана категории.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723C9E-48B3-408F-89B6-EB1ACCB2D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00700"/>
            <a:ext cx="104775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0">
                <a:solidFill>
                  <a:srgbClr val="B0BDC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B0BDC5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B0BDC5"/>
                </a:solidFill>
                <a:latin typeface="Arial"/>
                <a:ea typeface="Arial"/>
                <a:cs typeface="Arial"/>
              </a:rPr>
              <a:t>Точность грейдов и сопоставимость сложности</a:t>
            </a:r>
          </a:p>
          <a:p xmlns:a="http://schemas.openxmlformats.org/drawingml/2006/main">
            <a:pPr>
              <a:defRPr sz="2025" b="0">
                <a:solidFill>
                  <a:srgbClr val="B0BDC5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B0BDC5"/>
                </a:solidFill>
                <a:latin typeface="Arial"/>
                <a:ea typeface="Arial"/>
                <a:cs typeface="Arial"/>
              </a:rPr>
              <a:t>ещё требуют проверки экспертами и кандидатами.</a:t>
            </a:r>
          </a:p>
        </p:txBody>
      </p:sp>
    </p:spTree>
    <p:extLst>
      <p:ext uri="{BB962C8B-B14F-4D97-AF65-F5344CB8AC3E}">
        <p14:creationId xmlns:p14="http://schemas.microsoft.com/office/powerpoint/2010/main" val="101330889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1118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D2DA9AE-ED4A-4B49-98E5-876B2AD17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7200"/>
            <a:ext cx="1082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300" b="1">
                <a:solidFill>
                  <a:srgbClr val="F1F5F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F1F5F7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1F5F7"/>
                </a:solidFill>
                <a:latin typeface="Arial"/>
                <a:ea typeface="Arial"/>
                <a:cs typeface="Arial"/>
              </a:rPr>
              <a:t>Стек и хранение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995F361-AA89-4569-BF1F-5222638C0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9725"/>
            <a:ext cx="10382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225" b="1">
                <a:solidFill>
                  <a:srgbClr val="7496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7496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7496FF"/>
                </a:solidFill>
                <a:latin typeface="Arial"/>
                <a:ea typeface="Arial"/>
                <a:cs typeface="Arial"/>
              </a:rPr>
              <a:t>React + TypeScript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7D1D7D2-7F36-4A6A-ADE3-F27A36CD2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33625"/>
            <a:ext cx="10382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75" b="0">
                <a:solidFill>
                  <a:srgbClr val="B0BDC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B0BDC5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B0BDC5"/>
                </a:solidFill>
                <a:latin typeface="Arial"/>
                <a:ea typeface="Arial"/>
                <a:cs typeface="Arial"/>
              </a:rPr>
              <a:t>Vite, Tailwind, TanStack Query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CD55DC-357B-4577-85A7-EA0DCE789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0"/>
            <a:ext cx="10382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225" b="1">
                <a:solidFill>
                  <a:srgbClr val="F1F5F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F1F5F7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1F5F7"/>
                </a:solidFill>
                <a:latin typeface="Arial"/>
                <a:ea typeface="Arial"/>
                <a:cs typeface="Arial"/>
              </a:rPr>
              <a:t>Go + chi + Huma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3586FB-9CC9-4C32-A15B-A73B4A5A8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71925"/>
            <a:ext cx="10382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75" b="0">
                <a:solidFill>
                  <a:srgbClr val="B0BDC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B0BDC5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B0BDC5"/>
                </a:solidFill>
                <a:latin typeface="Arial"/>
                <a:ea typeface="Arial"/>
                <a:cs typeface="Arial"/>
              </a:rPr>
              <a:t>Модульный монолит, OpenAPI, SMTP outbox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582614-5020-4C71-BD52-6922C8055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19650"/>
            <a:ext cx="10382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225" b="1">
                <a:solidFill>
                  <a:srgbClr val="F1F5F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F1F5F7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1F5F7"/>
                </a:solidFill>
                <a:latin typeface="Arial"/>
                <a:ea typeface="Arial"/>
                <a:cs typeface="Arial"/>
              </a:rPr>
              <a:t>PostgreSQL + Redis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9CF46F-A6EB-4F67-9FC5-6A61F9CE7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53075"/>
            <a:ext cx="10382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75" b="0">
                <a:solidFill>
                  <a:srgbClr val="B0BDC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B0BDC5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B0BDC5"/>
                </a:solidFill>
                <a:latin typeface="Arial"/>
                <a:ea typeface="Arial"/>
                <a:cs typeface="Arial"/>
              </a:rPr>
              <a:t>Результаты и правила в БД. Сессии и лимиты в Redis.</a:t>
            </a:r>
          </a:p>
        </p:txBody>
      </p:sp>
    </p:spTree>
    <p:extLst>
      <p:ext uri="{BB962C8B-B14F-4D97-AF65-F5344CB8AC3E}">
        <p14:creationId xmlns:p14="http://schemas.microsoft.com/office/powerpoint/2010/main" val="12466373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1118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F2285B8-8AC9-4FC5-A2D1-293702485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7200"/>
            <a:ext cx="1082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300" b="1">
                <a:solidFill>
                  <a:srgbClr val="F1F5F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F1F5F7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1F5F7"/>
                </a:solidFill>
                <a:latin typeface="Arial"/>
                <a:ea typeface="Arial"/>
                <a:cs typeface="Arial"/>
              </a:rPr>
              <a:t>Следующий этап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097498-DCF6-49C3-8EEA-977DF1C7C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04950"/>
            <a:ext cx="7429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7496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7496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7496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6656C51-A45E-4200-A7AA-6FE4DC4F2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5925" y="1504950"/>
            <a:ext cx="952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250" b="1">
                <a:solidFill>
                  <a:srgbClr val="F1F5F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250" b="1">
                <a:solidFill>
                  <a:srgbClr val="F1F5F7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F1F5F7"/>
                </a:solidFill>
                <a:latin typeface="Arial"/>
                <a:ea typeface="Arial"/>
                <a:cs typeface="Arial"/>
              </a:rPr>
              <a:t>Экспертная калибровка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7264A2-94E0-4BC5-95B6-9561667C0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5925" y="2047875"/>
            <a:ext cx="9525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0">
                <a:solidFill>
                  <a:srgbClr val="B0BDC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B0BDC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B0BDC5"/>
                </a:solidFill>
                <a:latin typeface="Arial"/>
                <a:ea typeface="Arial"/>
                <a:cs typeface="Arial"/>
              </a:rPr>
              <a:t>Расширение банка, независимая разметка грейдов и качества подбора.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4D1F49-6EED-4C37-B4D0-E71E6EB8F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57525"/>
            <a:ext cx="7429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7496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7496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7496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05BC36A-6408-4196-A43C-BB478D8C1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5925" y="3057525"/>
            <a:ext cx="952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250" b="1">
                <a:solidFill>
                  <a:srgbClr val="F1F5F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250" b="1">
                <a:solidFill>
                  <a:srgbClr val="F1F5F7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F1F5F7"/>
                </a:solidFill>
                <a:latin typeface="Arial"/>
                <a:ea typeface="Arial"/>
                <a:cs typeface="Arial"/>
              </a:rPr>
              <a:t>Интеграции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57F367-F928-49FA-8B67-EF217660A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5925" y="3600450"/>
            <a:ext cx="9525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0">
                <a:solidFill>
                  <a:srgbClr val="B0BDC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B0BDC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B0BDC5"/>
                </a:solidFill>
                <a:latin typeface="Arial"/>
                <a:ea typeface="Arial"/>
                <a:cs typeface="Arial"/>
              </a:rPr>
              <a:t>ФСП ID через OIDC, контракт достижений и события для ATS.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DD608BF-C3EB-4262-A754-F96999304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10100"/>
            <a:ext cx="7429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7496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7496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7496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B18EC7-448F-4F17-AB3A-ADD9FF029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5925" y="4610100"/>
            <a:ext cx="952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250" b="1">
                <a:solidFill>
                  <a:srgbClr val="F1F5F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250" b="1">
                <a:solidFill>
                  <a:srgbClr val="F1F5F7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F1F5F7"/>
                </a:solidFill>
                <a:latin typeface="Arial"/>
                <a:ea typeface="Arial"/>
                <a:cs typeface="Arial"/>
              </a:rPr>
              <a:t>Внешний стенд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1744843-79B8-4B35-9656-AEC414A07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5925" y="5153025"/>
            <a:ext cx="9525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0">
                <a:solidFill>
                  <a:srgbClr val="B0BDC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B0BDC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B0BDC5"/>
                </a:solidFill>
                <a:latin typeface="Arial"/>
                <a:ea typeface="Arial"/>
                <a:cs typeface="Arial"/>
              </a:rPr>
              <a:t>Домен, HTTPS, почтовый сервис и база без демоаккаунтов.</a:t>
            </a:r>
          </a:p>
        </p:txBody>
      </p:sp>
    </p:spTree>
    <p:extLst>
      <p:ext uri="{BB962C8B-B14F-4D97-AF65-F5344CB8AC3E}">
        <p14:creationId xmlns:p14="http://schemas.microsoft.com/office/powerpoint/2010/main" val="95333325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2026-10-05T05:18:17.3820000Z</dcterms:created>
  <dcterms:modified xsi:type="dcterms:W3CDTF">2026-10-05T05:18:17.3820000Z</dcterms:modified>
</coreProperties>
</file>